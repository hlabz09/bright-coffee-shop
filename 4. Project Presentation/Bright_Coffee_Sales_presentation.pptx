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notesSlides/notesSlide5.xml" ContentType="application/vnd.openxmlformats-officedocument.presentationml.notesSlide+xml"/>
  <Override PartName="/ppt/charts/chart2.xml" ContentType="application/vnd.openxmlformats-officedocument.drawingml.chart+xml"/>
  <Override PartName="/ppt/notesSlides/notesSlide6.xml" ContentType="application/vnd.openxmlformats-officedocument.presentationml.notesSlide+xml"/>
  <Override PartName="/ppt/charts/chart3.xml" ContentType="application/vnd.openxmlformats-officedocument.drawingml.chart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4.xml" ContentType="application/vnd.openxmlformats-officedocument.drawingml.chart+xml"/>
  <Override PartName="/ppt/notesSlides/notesSlide9.xml" ContentType="application/vnd.openxmlformats-officedocument.presentationml.notesSlide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1" d="100"/>
          <a:sy n="71" d="100"/>
        </p:scale>
        <p:origin x="672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ln w="38100" cap="flat">
              <a:solidFill>
                <a:srgbClr val="B8763E"/>
              </a:solidFill>
              <a:prstDash val="solid"/>
              <a:round/>
            </a:ln>
            <a:effectLst/>
          </c:spPr>
          <c:marker>
            <c:symbol val="circle"/>
            <c:size val="7"/>
            <c:spPr>
              <a:solidFill>
                <a:srgbClr val="B8763E"/>
              </a:solidFill>
              <a:ln w="9525" cap="flat">
                <a:solidFill>
                  <a:srgbClr val="B8763E"/>
                </a:solidFill>
                <a:prstDash val="solid"/>
                <a:round/>
              </a:ln>
              <a:effectLst/>
            </c:spPr>
          </c:marker>
          <c:dLbls>
            <c:numFmt formatCode="&quot;R&quot;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2A211C"/>
                    </a:solidFill>
                    <a:latin typeface="Arial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81678</c:v>
                </c:pt>
                <c:pt idx="1">
                  <c:v>76145</c:v>
                </c:pt>
                <c:pt idx="2">
                  <c:v>98835</c:v>
                </c:pt>
                <c:pt idx="3">
                  <c:v>118941</c:v>
                </c:pt>
                <c:pt idx="4">
                  <c:v>156728</c:v>
                </c:pt>
                <c:pt idx="5">
                  <c:v>166486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BF70-478E-85CF-02B8D8EFBD65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D9C3A5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A7A6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chemeClr val="accent2"/>
            </a:solidFill>
            <a:effectLst/>
          </c:spPr>
          <c:invertIfNegative val="0"/>
          <c:dLbls>
            <c:numFmt formatCode="&quot;R&quot;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2A211C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Hell's Kitchen</c:v>
                </c:pt>
                <c:pt idx="1">
                  <c:v>Astoria</c:v>
                </c:pt>
                <c:pt idx="2">
                  <c:v>Lower Manhattan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236511</c:v>
                </c:pt>
                <c:pt idx="1">
                  <c:v>232244</c:v>
                </c:pt>
                <c:pt idx="2">
                  <c:v>230057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88B-4805-AF4E-AB546EE8E2B1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6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D9C3A5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2A211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Share</c:v>
                </c:pt>
              </c:strCache>
            </c:strRef>
          </c:tx>
          <c:spPr>
            <a:solidFill>
              <a:srgbClr val="4A2E1C"/>
            </a:solidFill>
            <a:effectLst/>
          </c:spPr>
          <c:invertIfNegative val="0"/>
          <c:dLbls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2A211C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Coffee</c:v>
                </c:pt>
                <c:pt idx="1">
                  <c:v>Tea</c:v>
                </c:pt>
                <c:pt idx="2">
                  <c:v>Bakery</c:v>
                </c:pt>
                <c:pt idx="3">
                  <c:v>Drinking Chocolate</c:v>
                </c:pt>
                <c:pt idx="4">
                  <c:v>Coffee Beans</c:v>
                </c:pt>
                <c:pt idx="5">
                  <c:v>Other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38.6</c:v>
                </c:pt>
                <c:pt idx="1">
                  <c:v>28.1</c:v>
                </c:pt>
                <c:pt idx="2">
                  <c:v>11.8</c:v>
                </c:pt>
                <c:pt idx="3">
                  <c:v>10.4</c:v>
                </c:pt>
                <c:pt idx="4">
                  <c:v>5.7</c:v>
                </c:pt>
                <c:pt idx="5">
                  <c:v>5.4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C3C-4AC2-8096-B7734DC5D275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5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D9C3A5"/>
            </a:solidFill>
            <a:prstDash val="solid"/>
            <a:round/>
          </a:ln>
        </c:spPr>
        <c:txPr>
          <a:bodyPr/>
          <a:lstStyle/>
          <a:p>
            <a:pPr>
              <a:defRPr sz="1250" b="0" i="0" u="none" strike="noStrike">
                <a:solidFill>
                  <a:srgbClr val="2A211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1" i="0" u="none" strike="noStrike">
                <a:solidFill>
                  <a:srgbClr val="2A211C"/>
                </a:solidFill>
                <a:latin typeface="Calibri"/>
              </a:defRPr>
            </a:pPr>
            <a:r>
              <a:rPr lang="en-US" sz="1400" b="1" i="0" u="none" strike="noStrike" dirty="0">
                <a:solidFill>
                  <a:srgbClr val="2A211C"/>
                </a:solidFill>
                <a:latin typeface="Calibri"/>
              </a:rPr>
              <a:t>Transactions per month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Transactions</c:v>
                </c:pt>
              </c:strCache>
            </c:strRef>
          </c:tx>
          <c:spPr>
            <a:solidFill>
              <a:srgbClr val="B8763E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50" b="0" i="0" u="none" strike="noStrike">
                    <a:solidFill>
                      <a:srgbClr val="2A211C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17314</c:v>
                </c:pt>
                <c:pt idx="1">
                  <c:v>16359</c:v>
                </c:pt>
                <c:pt idx="2">
                  <c:v>21229</c:v>
                </c:pt>
                <c:pt idx="3">
                  <c:v>25335</c:v>
                </c:pt>
                <c:pt idx="4">
                  <c:v>33527</c:v>
                </c:pt>
                <c:pt idx="5">
                  <c:v>35352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B5B-43F4-B4C1-EF56B9E71B1A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35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D9C3A5"/>
            </a:solidFill>
            <a:prstDash val="solid"/>
            <a:round/>
          </a:ln>
        </c:spPr>
        <c:txPr>
          <a:bodyPr/>
          <a:lstStyle/>
          <a:p>
            <a:pPr>
              <a:defRPr sz="1250" b="0" i="0" u="none" strike="noStrike">
                <a:solidFill>
                  <a:srgbClr val="2A211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Share</c:v>
                </c:pt>
              </c:strCache>
            </c:strRef>
          </c:tx>
          <c:spPr>
            <a:solidFill>
              <a:srgbClr val="B8763E"/>
            </a:solidFill>
            <a:effectLst/>
          </c:spPr>
          <c:invertIfNegative val="0"/>
          <c:dLbls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2A211C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6–9am</c:v>
                </c:pt>
                <c:pt idx="1">
                  <c:v>9am–12pm</c:v>
                </c:pt>
                <c:pt idx="2">
                  <c:v>12–3pm</c:v>
                </c:pt>
                <c:pt idx="3">
                  <c:v>3–6pm</c:v>
                </c:pt>
                <c:pt idx="4">
                  <c:v>6–9pm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24.1</c:v>
                </c:pt>
                <c:pt idx="1">
                  <c:v>31.5</c:v>
                </c:pt>
                <c:pt idx="2">
                  <c:v>17.399999999999999</c:v>
                </c:pt>
                <c:pt idx="3">
                  <c:v>17.600000000000001</c:v>
                </c:pt>
                <c:pt idx="4">
                  <c:v>9.4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CF2-4FB0-905C-ABE70A589501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3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D9C3A5"/>
            </a:solidFill>
            <a:prstDash val="solid"/>
            <a:round/>
          </a:ln>
        </c:spPr>
        <c:txPr>
          <a:bodyPr/>
          <a:lstStyle/>
          <a:p>
            <a:pPr>
              <a:defRPr sz="1150" b="0" i="0" u="none" strike="noStrike">
                <a:solidFill>
                  <a:srgbClr val="2A211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4A2E1C"/>
            </a:solidFill>
            <a:effectLst/>
          </c:spPr>
          <c:invertIfNegative val="0"/>
          <c:cat>
            <c:strRef>
              <c:f>Sheet1!$A$2:$A$8</c:f>
              <c:strCache>
                <c:ptCount val="7"/>
                <c:pt idx="0">
                  <c:v>Mon</c:v>
                </c:pt>
                <c:pt idx="1">
                  <c:v>Tue</c:v>
                </c:pt>
                <c:pt idx="2">
                  <c:v>Wed</c:v>
                </c:pt>
                <c:pt idx="3">
                  <c:v>Thu</c:v>
                </c:pt>
                <c:pt idx="4">
                  <c:v>Fri</c:v>
                </c:pt>
                <c:pt idx="5">
                  <c:v>Sat</c:v>
                </c:pt>
                <c:pt idx="6">
                  <c:v>Sun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101.7</c:v>
                </c:pt>
                <c:pt idx="1">
                  <c:v>99.5</c:v>
                </c:pt>
                <c:pt idx="2">
                  <c:v>100.3</c:v>
                </c:pt>
                <c:pt idx="3">
                  <c:v>100.8</c:v>
                </c:pt>
                <c:pt idx="4">
                  <c:v>101.4</c:v>
                </c:pt>
                <c:pt idx="5">
                  <c:v>96.9</c:v>
                </c:pt>
                <c:pt idx="6">
                  <c:v>98.3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D25-44BC-9240-192639328F0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3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D9C3A5"/>
            </a:solidFill>
            <a:prstDash val="solid"/>
            <a:round/>
          </a:ln>
        </c:spPr>
        <c:txPr>
          <a:bodyPr/>
          <a:lstStyle/>
          <a:p>
            <a:pPr>
              <a:defRPr sz="1150" b="0" i="0" u="none" strike="noStrike">
                <a:solidFill>
                  <a:srgbClr val="2A211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in val="90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871652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E1B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705600" y="5379"/>
            <a:ext cx="5486400" cy="5486400"/>
          </a:xfrm>
          <a:prstGeom prst="ellipse">
            <a:avLst/>
          </a:prstGeom>
          <a:solidFill>
            <a:srgbClr val="4A2E1C"/>
          </a:solidFill>
          <a:ln/>
        </p:spPr>
      </p:sp>
      <p:sp>
        <p:nvSpPr>
          <p:cNvPr id="3" name="Shape 1"/>
          <p:cNvSpPr/>
          <p:nvPr/>
        </p:nvSpPr>
        <p:spPr>
          <a:xfrm>
            <a:off x="7543800" y="843131"/>
            <a:ext cx="3840480" cy="3840480"/>
          </a:xfrm>
          <a:prstGeom prst="ellipse">
            <a:avLst/>
          </a:prstGeom>
          <a:ln w="19050">
            <a:solidFill>
              <a:srgbClr val="B8763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0" y="1528931"/>
            <a:ext cx="2468880" cy="2468880"/>
          </a:xfrm>
          <a:prstGeom prst="ellipse">
            <a:avLst/>
          </a:prstGeom>
          <a:ln w="12700">
            <a:solidFill>
              <a:srgbClr val="B8763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233172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300" dirty="0">
                <a:solidFill>
                  <a:srgbClr val="B87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BRIGHT COFFEE SALES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40080" y="2788920"/>
            <a:ext cx="98755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Happened, Why It Happened,</a:t>
            </a:r>
            <a:endParaRPr lang="en-US" sz="40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and What We Should Do Next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640080" y="452628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D9C3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first-half 2023 performance review across three New York City stores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40080" y="598932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D9C3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Manhattan  ·  Hell's Kitchen  ·  Astoria      |      January – June 2023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B87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A21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Six months of accelerating growth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2801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8A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more than doubled from January to June, powered almost entirely by more customer visits.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057400"/>
            <a:ext cx="2487168" cy="1965960"/>
          </a:xfrm>
          <a:prstGeom prst="roundRect">
            <a:avLst>
              <a:gd name="adj" fmla="val 3721"/>
            </a:avLst>
          </a:prstGeom>
          <a:solidFill>
            <a:srgbClr val="FAF7F3"/>
          </a:solidFill>
          <a:ln w="12700">
            <a:solidFill>
              <a:srgbClr val="D9C3A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2313432"/>
            <a:ext cx="22128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2E1B1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R698.8K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685800" y="3017520"/>
            <a:ext cx="22128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A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85800" y="3383280"/>
            <a:ext cx="22128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8A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 – Jun 2023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291840" y="2057400"/>
            <a:ext cx="2487168" cy="1965960"/>
          </a:xfrm>
          <a:prstGeom prst="roundRect">
            <a:avLst>
              <a:gd name="adj" fmla="val 3721"/>
            </a:avLst>
          </a:prstGeom>
          <a:solidFill>
            <a:srgbClr val="FAF7F3"/>
          </a:solidFill>
          <a:ln w="12700">
            <a:solidFill>
              <a:srgbClr val="D9C3A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29000" y="2313432"/>
            <a:ext cx="22128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2E1B1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+104%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3429000" y="3017520"/>
            <a:ext cx="22128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A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growth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429000" y="3383280"/>
            <a:ext cx="22128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8A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January vs. June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035040" y="2057400"/>
            <a:ext cx="2487168" cy="1965960"/>
          </a:xfrm>
          <a:prstGeom prst="roundRect">
            <a:avLst>
              <a:gd name="adj" fmla="val 3721"/>
            </a:avLst>
          </a:prstGeom>
          <a:solidFill>
            <a:srgbClr val="FAF7F3"/>
          </a:solidFill>
          <a:ln w="12700">
            <a:solidFill>
              <a:srgbClr val="D9C3A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72200" y="2313432"/>
            <a:ext cx="22128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2E1B1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149,116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6172200" y="3017520"/>
            <a:ext cx="22128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A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172200" y="3383280"/>
            <a:ext cx="22128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8A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3 stores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8778240" y="2057400"/>
            <a:ext cx="2487168" cy="1965960"/>
          </a:xfrm>
          <a:prstGeom prst="roundRect">
            <a:avLst>
              <a:gd name="adj" fmla="val 3721"/>
            </a:avLst>
          </a:prstGeom>
          <a:solidFill>
            <a:srgbClr val="FAF7F3"/>
          </a:solidFill>
          <a:ln w="12700">
            <a:solidFill>
              <a:srgbClr val="D9C3A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915400" y="2313432"/>
            <a:ext cx="22128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2E1B1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R4.69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8915400" y="3017520"/>
            <a:ext cx="22128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A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order value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915400" y="3383280"/>
            <a:ext cx="22128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8A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Essentially flat all year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48640" y="4434840"/>
            <a:ext cx="11064240" cy="1600200"/>
          </a:xfrm>
          <a:prstGeom prst="roundRect">
            <a:avLst>
              <a:gd name="adj" fmla="val 4571"/>
            </a:avLst>
          </a:prstGeom>
          <a:solidFill>
            <a:srgbClr val="2E1B10"/>
          </a:solidFill>
          <a:ln/>
        </p:spPr>
      </p:sp>
      <p:sp>
        <p:nvSpPr>
          <p:cNvPr id="22" name="Text 20"/>
          <p:cNvSpPr/>
          <p:nvPr/>
        </p:nvSpPr>
        <p:spPr>
          <a:xfrm>
            <a:off x="914400" y="46177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B87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story in one line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14400" y="4937760"/>
            <a:ext cx="10332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 — not price or basket size — is doing all the work. Average price and items-per-order barely moved, while monthly transactions doubled. That means growth is fragile if traffic slows, but there's real room to grow basket size and off-peak hours.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A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7589520" y="653796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Bright Coffee Sales · H1 2023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E1B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914861" y="1828800"/>
            <a:ext cx="5029200" cy="5029200"/>
          </a:xfrm>
          <a:prstGeom prst="ellipse">
            <a:avLst/>
          </a:prstGeom>
          <a:solidFill>
            <a:srgbClr val="4A2E1C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286000"/>
            <a:ext cx="2743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0" b="1" dirty="0">
                <a:solidFill>
                  <a:srgbClr val="4A2E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9000" dirty="0"/>
          </a:p>
        </p:txBody>
      </p:sp>
      <p:sp>
        <p:nvSpPr>
          <p:cNvPr id="4" name="Text 2"/>
          <p:cNvSpPr/>
          <p:nvPr/>
        </p:nvSpPr>
        <p:spPr>
          <a:xfrm>
            <a:off x="685800" y="324612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Happened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713232" y="416052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D9C3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nearly doubled, spread evenly across every store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B87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HAPPENED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A21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Revenue climbed every month but one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2344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8A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revenue, all stores combined (R)</a:t>
            </a:r>
            <a:endParaRPr lang="en-US" sz="125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548640" y="1691640"/>
          <a:ext cx="7040880" cy="4434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7863840" y="1691640"/>
            <a:ext cx="3749040" cy="4434840"/>
          </a:xfrm>
          <a:prstGeom prst="roundRect">
            <a:avLst>
              <a:gd name="adj" fmla="val 1951"/>
            </a:avLst>
          </a:prstGeom>
          <a:solidFill>
            <a:srgbClr val="FAF7F3"/>
          </a:solidFill>
          <a:ln w="12700">
            <a:solidFill>
              <a:srgbClr val="D9C3A5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138160" y="194767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B87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MOVES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8138160" y="237744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A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brief winter dip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8138160" y="2688336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8A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February slipped 6.8% vs. January — the only down month, in line with the seasonal winter lull.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8138160" y="361188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A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a steady climb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8138160" y="3922776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8A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March through June grew 20–32% month over month, more than doubling revenue from the January low.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8138160" y="484632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A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June is the peak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8138160" y="5157216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8A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R166.5K, the single best month, was 104% above January.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A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Happened — Revenue Trend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7589520" y="653796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Bright Coffee Sales · H1 2023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B87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HAPPENED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A21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All three stores grew — almost in lockstep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2344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8A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Half-year revenue by store (R)</a:t>
            </a:r>
            <a:endParaRPr lang="en-US" sz="1250" dirty="0"/>
          </a:p>
        </p:txBody>
      </p:sp>
      <p:graphicFrame>
        <p:nvGraphicFramePr>
          <p:cNvPr id="5" name="Chart 0"/>
          <p:cNvGraphicFramePr/>
          <p:nvPr>
            <p:extLst>
              <p:ext uri="{D42A27DB-BD31-4B8C-83A1-F6EECF244321}">
                <p14:modId xmlns:p14="http://schemas.microsoft.com/office/powerpoint/2010/main" val="2142256034"/>
              </p:ext>
            </p:extLst>
          </p:nvPr>
        </p:nvGraphicFramePr>
        <p:xfrm>
          <a:off x="548640" y="1737360"/>
          <a:ext cx="667512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 3"/>
          <p:cNvSpPr/>
          <p:nvPr/>
        </p:nvSpPr>
        <p:spPr>
          <a:xfrm>
            <a:off x="548640" y="5074920"/>
            <a:ext cx="6675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i="1" dirty="0">
                <a:solidFill>
                  <a:srgbClr val="8A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totals sit within 1.7 percentage points of each other (32.9%–33.8% share) — this is a consistent, replicable model, not one store carrying the rest</a:t>
            </a:r>
            <a:r>
              <a:rPr lang="en-US" sz="1250" i="1" dirty="0">
                <a:solidFill>
                  <a:srgbClr val="8A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7589520" y="1737360"/>
            <a:ext cx="4023360" cy="4160520"/>
          </a:xfrm>
          <a:prstGeom prst="roundRect">
            <a:avLst>
              <a:gd name="adj" fmla="val 1818"/>
            </a:avLst>
          </a:prstGeom>
          <a:solidFill>
            <a:srgbClr val="2E1B10"/>
          </a:solidFill>
          <a:ln/>
        </p:spPr>
      </p:sp>
      <p:sp>
        <p:nvSpPr>
          <p:cNvPr id="8" name="Text 5"/>
          <p:cNvSpPr/>
          <p:nvPr/>
        </p:nvSpPr>
        <p:spPr>
          <a:xfrm>
            <a:off x="7863840" y="199339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20" dirty="0">
                <a:solidFill>
                  <a:srgbClr val="B87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SHARE OF REVENUE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7863840" y="251460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33.8%</a:t>
            </a:r>
            <a:endParaRPr lang="en-US" sz="2600" dirty="0"/>
          </a:p>
        </p:txBody>
      </p:sp>
      <p:sp>
        <p:nvSpPr>
          <p:cNvPr id="10" name="Text 7"/>
          <p:cNvSpPr/>
          <p:nvPr/>
        </p:nvSpPr>
        <p:spPr>
          <a:xfrm>
            <a:off x="9281160" y="260604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9C3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Hell's Kitchen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7863840" y="338328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33.2%</a:t>
            </a:r>
            <a:endParaRPr lang="en-US" sz="2600" dirty="0"/>
          </a:p>
        </p:txBody>
      </p:sp>
      <p:sp>
        <p:nvSpPr>
          <p:cNvPr id="12" name="Text 9"/>
          <p:cNvSpPr/>
          <p:nvPr/>
        </p:nvSpPr>
        <p:spPr>
          <a:xfrm>
            <a:off x="9281160" y="347472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9C3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Astoria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7863840" y="425196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32.9%</a:t>
            </a:r>
            <a:endParaRPr lang="en-US" sz="2600" dirty="0"/>
          </a:p>
        </p:txBody>
      </p:sp>
      <p:sp>
        <p:nvSpPr>
          <p:cNvPr id="14" name="Text 11"/>
          <p:cNvSpPr/>
          <p:nvPr/>
        </p:nvSpPr>
        <p:spPr>
          <a:xfrm>
            <a:off x="9281160" y="434340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9C3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Manhattan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7863840" y="5166360"/>
            <a:ext cx="3474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9C3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store grew at a similar pace month over month too — growth is coming from the business model, not a one-off local effect.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A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Happened — Store Performance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7589520" y="653796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Bright Coffee Sales · H1 2023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B87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HAPPENED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A21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Coffee and tea drive two-thirds of revenue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2344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8A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of revenue by product category</a:t>
            </a:r>
            <a:endParaRPr lang="en-US" sz="125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548640" y="1737360"/>
          <a:ext cx="6675120" cy="40233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7589520" y="1737360"/>
            <a:ext cx="4023360" cy="4023360"/>
          </a:xfrm>
          <a:prstGeom prst="roundRect">
            <a:avLst>
              <a:gd name="adj" fmla="val 1818"/>
            </a:avLst>
          </a:prstGeom>
          <a:solidFill>
            <a:srgbClr val="FAF7F3"/>
          </a:solidFill>
          <a:ln w="12700">
            <a:solidFill>
              <a:srgbClr val="D9C3A5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863840" y="19659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20" dirty="0">
                <a:solidFill>
                  <a:srgbClr val="B87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5 PRODUCTS BY REVENUE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7863840" y="2395728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B876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275320" y="2414016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A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Barista Espresso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10424160" y="2414016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50" dirty="0">
                <a:solidFill>
                  <a:srgbClr val="8A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R91.4K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7863840" y="2871216"/>
            <a:ext cx="3474720" cy="0"/>
          </a:xfrm>
          <a:prstGeom prst="line">
            <a:avLst/>
          </a:prstGeom>
          <a:noFill/>
          <a:ln w="9525">
            <a:solidFill>
              <a:srgbClr val="D9C3A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863840" y="301752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B876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8275320" y="3035808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A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Brewed Chai Tea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10424160" y="3035808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50" dirty="0">
                <a:solidFill>
                  <a:srgbClr val="8A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R77.1K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7863840" y="3493008"/>
            <a:ext cx="3474720" cy="0"/>
          </a:xfrm>
          <a:prstGeom prst="line">
            <a:avLst/>
          </a:prstGeom>
          <a:noFill/>
          <a:ln w="9525">
            <a:solidFill>
              <a:srgbClr val="D9C3A5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863840" y="3639312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B876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8275320" y="365760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A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 Chocolate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10424160" y="3657600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50" dirty="0">
                <a:solidFill>
                  <a:srgbClr val="8A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R72.4K</a:t>
            </a:r>
            <a:endParaRPr lang="en-US" sz="1250" dirty="0"/>
          </a:p>
        </p:txBody>
      </p:sp>
      <p:sp>
        <p:nvSpPr>
          <p:cNvPr id="19" name="Shape 16"/>
          <p:cNvSpPr/>
          <p:nvPr/>
        </p:nvSpPr>
        <p:spPr>
          <a:xfrm>
            <a:off x="7863840" y="4114800"/>
            <a:ext cx="3474720" cy="0"/>
          </a:xfrm>
          <a:prstGeom prst="line">
            <a:avLst/>
          </a:prstGeom>
          <a:noFill/>
          <a:ln w="9525">
            <a:solidFill>
              <a:srgbClr val="D9C3A5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863840" y="4261104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B876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8275320" y="4279392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A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Gourmet Brewed Coffee</a:t>
            </a:r>
            <a:endParaRPr lang="en-US" sz="1250" dirty="0"/>
          </a:p>
        </p:txBody>
      </p:sp>
      <p:sp>
        <p:nvSpPr>
          <p:cNvPr id="22" name="Text 19"/>
          <p:cNvSpPr/>
          <p:nvPr/>
        </p:nvSpPr>
        <p:spPr>
          <a:xfrm>
            <a:off x="10424160" y="4279392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50" dirty="0">
                <a:solidFill>
                  <a:srgbClr val="8A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R70.0K</a:t>
            </a:r>
            <a:endParaRPr lang="en-US" sz="1250" dirty="0"/>
          </a:p>
        </p:txBody>
      </p:sp>
      <p:sp>
        <p:nvSpPr>
          <p:cNvPr id="23" name="Shape 20"/>
          <p:cNvSpPr/>
          <p:nvPr/>
        </p:nvSpPr>
        <p:spPr>
          <a:xfrm>
            <a:off x="7863840" y="4736592"/>
            <a:ext cx="3474720" cy="0"/>
          </a:xfrm>
          <a:prstGeom prst="line">
            <a:avLst/>
          </a:prstGeom>
          <a:noFill/>
          <a:ln w="9525">
            <a:solidFill>
              <a:srgbClr val="D9C3A5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7863840" y="4882896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B876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8275320" y="4901184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A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Brewed Black Tea</a:t>
            </a:r>
            <a:endParaRPr lang="en-US" sz="1250" dirty="0"/>
          </a:p>
        </p:txBody>
      </p:sp>
      <p:sp>
        <p:nvSpPr>
          <p:cNvPr id="26" name="Text 23"/>
          <p:cNvSpPr/>
          <p:nvPr/>
        </p:nvSpPr>
        <p:spPr>
          <a:xfrm>
            <a:off x="10424160" y="4901184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50" dirty="0">
                <a:solidFill>
                  <a:srgbClr val="8A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R47.9K</a:t>
            </a:r>
            <a:endParaRPr lang="en-US" sz="1250" dirty="0"/>
          </a:p>
        </p:txBody>
      </p:sp>
      <p:sp>
        <p:nvSpPr>
          <p:cNvPr id="27" name="Text 24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A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Happened — Category Mix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7589520" y="653796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Bright Coffee Sales · H1 2023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E1B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62800" y="0"/>
            <a:ext cx="5029200" cy="502920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286000"/>
            <a:ext cx="2743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0" b="1" dirty="0">
                <a:solidFill>
                  <a:srgbClr val="4A2E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9000" dirty="0"/>
          </a:p>
        </p:txBody>
      </p:sp>
      <p:sp>
        <p:nvSpPr>
          <p:cNvPr id="4" name="Text 2"/>
          <p:cNvSpPr/>
          <p:nvPr/>
        </p:nvSpPr>
        <p:spPr>
          <a:xfrm>
            <a:off x="685800" y="324612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It Happened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713232" y="416052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D9C3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came from more visits — not higher prices or bigger orders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B87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HAPPENED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A21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Transactions doubled — price and basket size didn't move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2344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8A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transaction count vs. average order value</a:t>
            </a:r>
            <a:endParaRPr lang="en-US" sz="1250" dirty="0"/>
          </a:p>
        </p:txBody>
      </p:sp>
      <p:graphicFrame>
        <p:nvGraphicFramePr>
          <p:cNvPr id="5" name="Chart 0"/>
          <p:cNvGraphicFramePr/>
          <p:nvPr>
            <p:extLst>
              <p:ext uri="{D42A27DB-BD31-4B8C-83A1-F6EECF244321}">
                <p14:modId xmlns:p14="http://schemas.microsoft.com/office/powerpoint/2010/main" val="3029301122"/>
              </p:ext>
            </p:extLst>
          </p:nvPr>
        </p:nvGraphicFramePr>
        <p:xfrm>
          <a:off x="548640" y="1737360"/>
          <a:ext cx="6949440" cy="4114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7772400" y="1737360"/>
            <a:ext cx="3840480" cy="4114800"/>
          </a:xfrm>
          <a:prstGeom prst="roundRect">
            <a:avLst>
              <a:gd name="adj" fmla="val 1905"/>
            </a:avLst>
          </a:prstGeom>
          <a:solidFill>
            <a:srgbClr val="2E1B10"/>
          </a:solidFill>
          <a:ln/>
        </p:spPr>
      </p:sp>
      <p:sp>
        <p:nvSpPr>
          <p:cNvPr id="7" name="Text 4"/>
          <p:cNvSpPr/>
          <p:nvPr/>
        </p:nvSpPr>
        <p:spPr>
          <a:xfrm>
            <a:off x="8046720" y="201168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order value stayed flat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8046720" y="2359152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D9C3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R4.65 – R4.72 every single month — a range of just 7 cents.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8046720" y="306324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D9C3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price: ~R3.37–R3.41 all year (no price hikes</a:t>
            </a:r>
            <a:r>
              <a:rPr lang="en-US" sz="1150" dirty="0">
                <a:solidFill>
                  <a:srgbClr val="D9C3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8046720" y="361188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D9C3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Items per order: ~1.43–1.44 all year (no upsell shift)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8046720" y="4251960"/>
            <a:ext cx="3291840" cy="0"/>
          </a:xfrm>
          <a:prstGeom prst="line">
            <a:avLst/>
          </a:prstGeom>
          <a:noFill/>
          <a:ln w="12700">
            <a:solidFill>
              <a:srgbClr val="B8763E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046720" y="43891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B87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8046720" y="4663440"/>
            <a:ext cx="3291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Rand of growth came from more customers walking in — pricing and menu mix were not the drivers.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A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Happened — Volume vs. Price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7589520" y="653796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Bright Coffee Sales · H1 2023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B87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HAPPENED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50" b="1" dirty="0">
                <a:solidFill>
                  <a:srgbClr val="2A21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is a weekday morning rush, not a leisure destination</a:t>
            </a:r>
            <a:endParaRPr lang="en-US" sz="2350" dirty="0"/>
          </a:p>
        </p:txBody>
      </p:sp>
      <p:sp>
        <p:nvSpPr>
          <p:cNvPr id="4" name="Text 2"/>
          <p:cNvSpPr/>
          <p:nvPr/>
        </p:nvSpPr>
        <p:spPr>
          <a:xfrm>
            <a:off x="548640" y="1298448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8A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share by time of day</a:t>
            </a:r>
            <a:endParaRPr lang="en-US" sz="1400" b="1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548640" y="1645920"/>
          <a:ext cx="603504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 3"/>
          <p:cNvSpPr/>
          <p:nvPr/>
        </p:nvSpPr>
        <p:spPr>
          <a:xfrm>
            <a:off x="548640" y="4526280"/>
            <a:ext cx="6035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i="1" dirty="0">
                <a:solidFill>
                  <a:srgbClr val="8A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6am–12pm alone accounts for 55.6% of all revenue. The 6–9pm evening slot brings in just 9.4%.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6903720" y="1298448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8A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by day of week (R thousands)</a:t>
            </a:r>
            <a:endParaRPr lang="en-US" sz="1400" b="1" dirty="0"/>
          </a:p>
        </p:txBody>
      </p:sp>
      <p:graphicFrame>
        <p:nvGraphicFramePr>
          <p:cNvPr id="8" name="Chart 1"/>
          <p:cNvGraphicFramePr/>
          <p:nvPr/>
        </p:nvGraphicFramePr>
        <p:xfrm>
          <a:off x="6903720" y="1645920"/>
          <a:ext cx="470916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9" name="Text 5"/>
          <p:cNvSpPr/>
          <p:nvPr/>
        </p:nvSpPr>
        <p:spPr>
          <a:xfrm>
            <a:off x="6903720" y="4526280"/>
            <a:ext cx="4709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i="1" dirty="0">
                <a:solidFill>
                  <a:srgbClr val="8A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Weekdays (Mon–Fri) each out-earn both weekend days — a signature of commuter and office traffic.</a:t>
            </a:r>
            <a:endParaRPr lang="en-US" sz="1400" dirty="0"/>
          </a:p>
        </p:txBody>
      </p:sp>
      <p:sp>
        <p:nvSpPr>
          <p:cNvPr id="10" name="Shape 6"/>
          <p:cNvSpPr/>
          <p:nvPr/>
        </p:nvSpPr>
        <p:spPr>
          <a:xfrm>
            <a:off x="548640" y="5349240"/>
            <a:ext cx="11064240" cy="777240"/>
          </a:xfrm>
          <a:prstGeom prst="roundRect">
            <a:avLst>
              <a:gd name="adj" fmla="val 7059"/>
            </a:avLst>
          </a:prstGeom>
          <a:solidFill>
            <a:srgbClr val="FAF7F3"/>
          </a:solidFill>
          <a:ln w="12700">
            <a:solidFill>
              <a:srgbClr val="D9C3A5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822960" y="5468112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2A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matters: growth is riding one narrow window. Extending strong hours — or building demand outside them — is the biggest untapped lever.</a:t>
            </a:r>
            <a:endParaRPr lang="en-US" sz="1250" dirty="0"/>
          </a:p>
        </p:txBody>
      </p:sp>
      <p:sp>
        <p:nvSpPr>
          <p:cNvPr id="12" name="Text 8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A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Happened — When Customers Buy</a:t>
            </a:r>
            <a:endParaRPr lang="en-US" sz="1000" dirty="0"/>
          </a:p>
        </p:txBody>
      </p:sp>
      <p:sp>
        <p:nvSpPr>
          <p:cNvPr id="13" name="Text 9"/>
          <p:cNvSpPr/>
          <p:nvPr/>
        </p:nvSpPr>
        <p:spPr>
          <a:xfrm>
            <a:off x="7589520" y="653796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Bright Coffee Sales · H1 2023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E1B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98464" y="1828800"/>
            <a:ext cx="5029200" cy="5029200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286000"/>
            <a:ext cx="2743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0" b="1" dirty="0">
                <a:solidFill>
                  <a:srgbClr val="4A2E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9000" dirty="0"/>
          </a:p>
        </p:txBody>
      </p:sp>
      <p:sp>
        <p:nvSpPr>
          <p:cNvPr id="4" name="Text 2"/>
          <p:cNvSpPr/>
          <p:nvPr/>
        </p:nvSpPr>
        <p:spPr>
          <a:xfrm>
            <a:off x="685800" y="324612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Should Do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713232" y="416052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D9C3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moves to protect the morning rush and grow the rest of the day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B87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SHOULD DO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2A21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ways to build on H1 momentum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349240" cy="2148840"/>
          </a:xfrm>
          <a:prstGeom prst="roundRect">
            <a:avLst>
              <a:gd name="adj" fmla="val 3830"/>
            </a:avLst>
          </a:prstGeom>
          <a:solidFill>
            <a:srgbClr val="FAF7F3"/>
          </a:solidFill>
          <a:ln w="12700">
            <a:solidFill>
              <a:srgbClr val="D9C3A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737360"/>
            <a:ext cx="502920" cy="502920"/>
          </a:xfrm>
          <a:prstGeom prst="ellipse">
            <a:avLst/>
          </a:prstGeom>
          <a:solidFill>
            <a:srgbClr val="2E1B10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737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B876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508760" y="1719072"/>
            <a:ext cx="4114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A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an afternoon &amp; evening push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2377440"/>
            <a:ext cx="4800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8A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6–9pm is only 9.4% of revenue. Test a post-3pm bundle (drink + bakery) and evening-only loyalty points to build a second daypart</a:t>
            </a:r>
            <a:r>
              <a:rPr lang="en-US" sz="1200" dirty="0">
                <a:solidFill>
                  <a:srgbClr val="8A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263640" y="1463040"/>
            <a:ext cx="5349240" cy="2148840"/>
          </a:xfrm>
          <a:prstGeom prst="roundRect">
            <a:avLst>
              <a:gd name="adj" fmla="val 3830"/>
            </a:avLst>
          </a:prstGeom>
          <a:solidFill>
            <a:srgbClr val="FAF7F3"/>
          </a:solidFill>
          <a:ln w="12700">
            <a:solidFill>
              <a:srgbClr val="D9C3A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37960" y="1737360"/>
            <a:ext cx="502920" cy="502920"/>
          </a:xfrm>
          <a:prstGeom prst="ellipse">
            <a:avLst/>
          </a:prstGeom>
          <a:solidFill>
            <a:srgbClr val="2E1B10"/>
          </a:solidFill>
          <a:ln/>
        </p:spPr>
      </p:sp>
      <p:sp>
        <p:nvSpPr>
          <p:cNvPr id="11" name="Text 9"/>
          <p:cNvSpPr/>
          <p:nvPr/>
        </p:nvSpPr>
        <p:spPr>
          <a:xfrm>
            <a:off x="6537960" y="1737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B876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7223760" y="1719072"/>
            <a:ext cx="4114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A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 basket size, not just traffic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537960" y="2377440"/>
            <a:ext cx="4800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8A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Items-per-order has sat at ~1.43 all year. Train baristas on pairing suggestions and feature bakery add-ons at checkout.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48640" y="3886200"/>
            <a:ext cx="5349240" cy="2148840"/>
          </a:xfrm>
          <a:prstGeom prst="roundRect">
            <a:avLst>
              <a:gd name="adj" fmla="val 3830"/>
            </a:avLst>
          </a:prstGeom>
          <a:solidFill>
            <a:srgbClr val="FAF7F3"/>
          </a:solidFill>
          <a:ln w="12700">
            <a:solidFill>
              <a:srgbClr val="D9C3A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2960" y="4160520"/>
            <a:ext cx="502920" cy="502920"/>
          </a:xfrm>
          <a:prstGeom prst="ellipse">
            <a:avLst/>
          </a:prstGeom>
          <a:solidFill>
            <a:srgbClr val="2E1B10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4160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B876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508760" y="4142232"/>
            <a:ext cx="4114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A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 the weekday morning engine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22960" y="4800600"/>
            <a:ext cx="4800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8A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55.6% of revenue happens before noon on weekdays. Keep staffing and inventory tightest here — any slippage hits the core business hardest.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263640" y="3886200"/>
            <a:ext cx="5349240" cy="2148840"/>
          </a:xfrm>
          <a:prstGeom prst="roundRect">
            <a:avLst>
              <a:gd name="adj" fmla="val 3830"/>
            </a:avLst>
          </a:prstGeom>
          <a:solidFill>
            <a:srgbClr val="FAF7F3"/>
          </a:solidFill>
          <a:ln w="12700">
            <a:solidFill>
              <a:srgbClr val="D9C3A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537960" y="4160520"/>
            <a:ext cx="502920" cy="502920"/>
          </a:xfrm>
          <a:prstGeom prst="ellipse">
            <a:avLst/>
          </a:prstGeom>
          <a:solidFill>
            <a:srgbClr val="2E1B10"/>
          </a:solidFill>
          <a:ln/>
        </p:spPr>
      </p:sp>
      <p:sp>
        <p:nvSpPr>
          <p:cNvPr id="21" name="Text 19"/>
          <p:cNvSpPr/>
          <p:nvPr/>
        </p:nvSpPr>
        <p:spPr>
          <a:xfrm>
            <a:off x="6537960" y="4160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B876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7223760" y="4142232"/>
            <a:ext cx="4114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A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proven model to plan store #4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537960" y="4800600"/>
            <a:ext cx="4800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8A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stores perform within 1.7 points of each other. That consistency is a strong, low-risk case for opening a fourth NYC location.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A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Should Do — Recommendations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7589520" y="653796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Bright Coffee Sales · H1 2023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2E1B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00" cy="5486400"/>
          </a:xfrm>
          <a:prstGeom prst="ellipse">
            <a:avLst/>
          </a:prstGeom>
          <a:solidFill>
            <a:srgbClr val="4A2E1C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1488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B87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 line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2560320"/>
            <a:ext cx="103327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H1 proved the model works.</a:t>
            </a:r>
            <a:endParaRPr lang="en-US" sz="34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H2 is about widening the window.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4114800"/>
            <a:ext cx="9418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50" i="1" dirty="0">
                <a:solidFill>
                  <a:srgbClr val="D9C3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doubled on traffic alone — now the opportunity is turning slow afternoons and evenings into the same growth engine as the morning rush, and using three consistent stores as the blueprint for a fourth.</a:t>
            </a:r>
            <a:endParaRPr lang="en-US" sz="14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882</Words>
  <Application>Microsoft Office PowerPoint</Application>
  <PresentationFormat>Widescreen</PresentationFormat>
  <Paragraphs>133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katlego baldwin</cp:lastModifiedBy>
  <cp:revision>2</cp:revision>
  <dcterms:created xsi:type="dcterms:W3CDTF">2026-08-30T10:44:00Z</dcterms:created>
  <dcterms:modified xsi:type="dcterms:W3CDTF">2026-08-30T11:05:23Z</dcterms:modified>
</cp:coreProperties>
</file>